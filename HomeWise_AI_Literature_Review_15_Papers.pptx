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37160" cy="3474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Literature Review</a:t>
            </a:r>
          </a:p>
          <a:p>
            <a:pPr>
              <a:spcAft>
                <a:spcPts val="1800"/>
              </a:spcAft>
              <a:defRPr sz="2200" b="1">
                <a:solidFill>
                  <a:srgbClr val="059669"/>
                </a:solidFill>
                <a:latin typeface="Arial"/>
              </a:defRPr>
            </a:pPr>
            <a:r>
              <a:t>Analysis of 15 Verified Academic Research Papers</a:t>
            </a:r>
          </a:p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Project Title: HomeWise AI – AI-Based Neighborhood Intelligence for Home-Buying Decision Support</a:t>
            </a:r>
            <a:br/>
            <a:r>
              <a:t>Academic Review 2 Evaluation | Comprehensive Literature Survey &amp; Research Gap Synthesis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Literature Review – Papers 1–5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59669"/>
                </a:solidFill>
              </a:defRPr>
            </a:pPr>
            <a:r>
              <a:t>HomeWise AI | Part 1 of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9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194560"/>
                <a:gridCol w="1463040"/>
                <a:gridCol w="1645920"/>
                <a:gridCol w="640080"/>
                <a:gridCol w="2377440"/>
                <a:gridCol w="2499055"/>
              </a:tblGrid>
              <a:tr h="86868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 Title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Authors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Journal / Venue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Methodology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Relevance &amp; Limitations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86868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The role of location in residential location choice models: a review of literature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Schirmer et al.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Journal of Transport and Land Use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2014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Systematic literature review and discrete choice model comparative analysis (Multinomial &amp; Nested Logit).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Relevance: Provides empirical justification for HomeWise AI's core feature set, proving school access and transport dictate location choices.</a:t>
                      </a:r>
                      <a:br/>
                      <a:r>
                        <a:t>Limitation: Focuses on static econometric models rather than real-time interactive user-preference weighting or AI synthesis.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6868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Predicting consumer response to new housing layouts: a stated choice experiment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Molin et 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Environment and Planning B: Planning and 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1996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Stated Choice Preference Experiment and Hierarchical Information Integration (HII) modeling.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Relevance: Validates HomeWise AI's preference trade-off architecture where buyers dynamically balance competing location factors.</a:t>
                      </a:r>
                      <a:br/>
                      <a:r>
                        <a:t>Limitation: Relies on static stated-preference surveys rather than dynamic, interactive real-time map recommendation engines.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Latent lifestyle preferences and household location decisions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Walker &amp; Li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Journal of Geographical Systems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2007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Latent Class Discrete Choice Modeling combining household attitudinal survey indicators with spatial land-use data.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Relevance: Directly inspires HomeWise AI's Buyer Profile System (Family, Working Professional, Senior Citizen, Investment) to adapt factor weights.</a:t>
                      </a:r>
                      <a:br/>
                      <a:r>
                        <a:t>Limitation: High computational complexity and reliance on static household survey datasets.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6868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How neighborhood features affect quality of life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Sirgy &amp; Cornwell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Social Indicators Research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Structural Equation Modeling (SEM) analyzing resident survey responses across physical, community, and service satisfaction domains.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Relevance: Provides the foundational taxonomy of neighborhood liveability factors integrated into HomeWise AI's scoring dashboard.</a:t>
                      </a:r>
                      <a:br/>
                      <a:r>
                        <a:t>Limitation: Lacks spatial map visualization or automated multi-criteria recommendation algorithms.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GIS‐based multicriteria decision analysis: a survey of the literature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Malczewski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International Journal of Geographical Information Science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2006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Comprehensive literature review and mathematical taxonomy of GIS-MCDA integration techniques.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Relevance: Establishes the core GIS-MCDA spatial overlay pipeline implemented in HomeWise AI's Leaflet map layer architecture.</a:t>
                      </a:r>
                      <a:br/>
                      <a:r>
                        <a:t>Limitation: Focuses on regional urban planning desktop GIS rather than consumer web-map applications for home buyers.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Literature Review – Papers 6–10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59669"/>
                </a:solidFill>
              </a:defRPr>
            </a:pPr>
            <a:r>
              <a:t>HomeWise AI | Part 2 of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9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194560"/>
                <a:gridCol w="1463040"/>
                <a:gridCol w="1645920"/>
                <a:gridCol w="640080"/>
                <a:gridCol w="2377440"/>
                <a:gridCol w="2499055"/>
              </a:tblGrid>
              <a:tr h="86868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 Title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Authors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Journal / Venue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Methodology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Relevance &amp; Limitations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86868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GIS-based multicriteria decision analysis of land suitability for housing development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Chandio et al.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Environmental Earth Sciences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2014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Analytical Hierarchy Process (AHP) integrated with ArcGIS spatial overlay modeling.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Relevance: Demonstrates the efficacy of multi-factor spatial overlay scoring, which HomeWise AI adapts into client-side Leaflet web GIS.</a:t>
                      </a:r>
                      <a:br/>
                      <a:r>
                        <a:t>Limitation: Static desktop GIS workflow requiring specialized GIS software (ArcGIS) rather than a browser-based web application.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6868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Decision making on business site selection utilizing hybrid MCDM model under fuzzy environment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Zolfani et 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International Journal of Strategic Property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Hybrid MCDM model combining Fuzzy AHP and SWARA-WASPAS ranking algorithms.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Relevance: Underpins HomeWise AI's preference calculation engine that balances budget against accessibility factors.</a:t>
                      </a:r>
                      <a:br/>
                      <a:r>
                        <a:t>Limitation: Complex mathematical execution requires expert input and is difficult for lay home buyers to configure directly.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 New Model for Determining Weight Coefficients of Criteria in MCDM Models: Full Consistency Method (FUCOM)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Pamučar et al.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Symmetry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2018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Full Consistency Method (FUCOM) mathematical optimization algorithm.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Relevance: Provides the algorithmic basis for HomeWise AI's linear preference re-weighting algorithm across schools, safety, and price.</a:t>
                      </a:r>
                      <a:br/>
                      <a:r>
                        <a:t>Limitation: Focuses purely on weight determination math without a visual user interface or natural language explanation synthesis.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6868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 personalized real estate recommendation algorithm based on user preference and geographic location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Yuan et 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IEEE Access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Content-based preference weight filtering integrated with spatial geographic distance decay functions.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Relevance: Directly matches HomeWise AI's recommendation pipeline, which scores and ranks localities using spatial distance and preference weights.</a:t>
                      </a:r>
                      <a:br/>
                      <a:r>
                        <a:t>Limitation: Does not generate natural language explanations or dynamic LLM summaries explaining why a property was recommended.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Location-aware housing recommendation system based on multi-attribute preference modeling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Wu et al.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Knowledge-Based Systems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2021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Multi-Attribute Utility Theory (MAUT) integrated with spatial grid index matching.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Relevance: Supports HomeWise AI's design choice of using multi-attribute utility scoring over black-box collaborative filtering.</a:t>
                      </a:r>
                      <a:br/>
                      <a:r>
                        <a:t>Limitation: Requires extensive historical user clickstream logs for model training.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Literature Review – Papers 11–15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59669"/>
                </a:solidFill>
              </a:defRPr>
            </a:pPr>
            <a:r>
              <a:t>HomeWise AI | Part 3 of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9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194560"/>
                <a:gridCol w="1463040"/>
                <a:gridCol w="1645920"/>
                <a:gridCol w="640080"/>
                <a:gridCol w="2377440"/>
                <a:gridCol w="2499055"/>
              </a:tblGrid>
              <a:tr h="86868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 Title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Authors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Journal / Venue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Methodology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Relevance &amp; Limitations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86868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Impacts of Street-Visible Greenery on Housing Prices: Evidence from a Hedonic Price Model and a Massive Street View Image Dataset in Beijing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Zhang &amp; Dong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ISPRS International Journal of Geo-Information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2018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Hedonic Price Model (HPM) combined with Street View computer vision feature extraction and spatial regression.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Relevance: Validates HomeWise AI's budget-to-amenity comparison model, proving that neighborhood attributes dictate property valuation.</a:t>
                      </a:r>
                      <a:br/>
                      <a:r>
                        <a:t>Limitation: Retrospective econometric study; does not provide an interactive recommendation tool for prospective home buyers.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6868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Towards equitable transit: examining transit accessibility and social need in Toronto, Canada, 1996–2006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Foth et 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Journal of Transport Geography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Spatial transit travel-time matrix and cumulative opportunity accessibility index calculation.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Relevance: Informs HomeWise AI's City Connectivity module (railway, metro, and road accessibility scoring).</a:t>
                      </a:r>
                      <a:br/>
                      <a:r>
                        <a:t>Limitation: Evaluates transit in isolation without integrating school quality, air quality, or flood safety scores into a unified score.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Urban liveability: Emerging lessons from Australia for exploring the potential for indicators to measure the social determinants of health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Badland et al.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Social Science &amp; Medicine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2014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Policy analysis and spatial liveability indicator framework development across 7 urban domains.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Relevance: Justifies HomeWise AI's inclusion of Air Quality Index (AQI) and Flood Safety as core liveability factors.</a:t>
                      </a:r>
                      <a:br/>
                      <a:r>
                        <a:t>Limitation: Focuses on public health policy framework rather than consumer real estate decision tools.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6868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Identifying real estate opportunities using machine learning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Baldominos et 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Applied Sciences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Supervised Machine Learning regression (Random Forest and Gradient Boosting) on spatial neighborhood features.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Relevance: Highlights the necessity of HomeWise AI's Prototype AI Insight layer, which translates score data into readable explanations.</a:t>
                      </a:r>
                      <a:br/>
                      <a:r>
                        <a:t>Limitation: Machine learning models act as 'black boxes' lacking natural-language explanations for end-user decision rationale.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Artificial Intelligence (AI): Multidisciplinary perspectives on emerging challenges, opportunities, and agenda for research, practice and policy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Dwivedi et al.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International Journal of Information Management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2021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Multidisciplinary expert Delphi consensus study and Explainable AI (XAI) decision support taxonomy development.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Relevance: Directly supports HomeWise AI's core architectural principle: pairing algorithmic recommendation scores with transparent AI explanations.</a:t>
                      </a:r>
                      <a:br/>
                      <a:r>
                        <a:t>Limitation: High-level theoretical agenda paper; does not implement a domain-specific real estate web interface.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Research Gap &amp; Proposed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59669"/>
                </a:solidFill>
              </a:defRPr>
            </a:pPr>
            <a:r>
              <a:t>HomeWise AI | Synthesis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2918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Existing Research Landscape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GIS Suitability Analysis (Malczewski; Chandio)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MCDM Criteria Weighting (Zolfani; Pamučar)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Machine Learning Valuation (Baldominos)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Hedonic Environmental Pricing (Zhang &amp; Dong)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Transit Infrastructure Access (Foth et al.)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Consumer Choice Models (Schirmer; Walker)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77639" y="3474720"/>
            <a:ext cx="548640" cy="36576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63440" y="1371600"/>
            <a:ext cx="3291840" cy="4754880"/>
          </a:xfrm>
          <a:prstGeom prst="roundRect">
            <a:avLst/>
          </a:prstGeom>
          <a:solidFill>
            <a:srgbClr val="FEF3C7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600" b="1">
                <a:solidFill>
                  <a:srgbClr val="92400E"/>
                </a:solidFill>
              </a:defRPr>
            </a:pPr>
            <a:r>
              <a:t>Identified Research Gap</a:t>
            </a:r>
          </a:p>
          <a:p>
            <a:pPr>
              <a:spcBef>
                <a:spcPts val="800"/>
              </a:spcBef>
              <a:defRPr sz="1100">
                <a:solidFill>
                  <a:srgbClr val="78350F"/>
                </a:solidFill>
              </a:defRPr>
            </a:pPr>
            <a:r>
              <a:t>⚠ Fragmented Silos: GIS, MCDM, and ML models are studied in isolation.</a:t>
            </a:r>
          </a:p>
          <a:p>
            <a:pPr>
              <a:spcBef>
                <a:spcPts val="800"/>
              </a:spcBef>
              <a:defRPr sz="1100">
                <a:solidFill>
                  <a:srgbClr val="78350F"/>
                </a:solidFill>
              </a:defRPr>
            </a:pPr>
            <a:r>
              <a:t>⚠ Lack of Consumer Accessibility: Complex desktop GIS/MCDM software built for planners, not home buyers.</a:t>
            </a:r>
          </a:p>
          <a:p>
            <a:pPr>
              <a:spcBef>
                <a:spcPts val="800"/>
              </a:spcBef>
              <a:defRPr sz="1100">
                <a:solidFill>
                  <a:srgbClr val="78350F"/>
                </a:solidFill>
              </a:defRPr>
            </a:pPr>
            <a:r>
              <a:t>⚠ Black-Box ML Predictions: ML models lack natural-language explanation rationale.</a:t>
            </a:r>
          </a:p>
          <a:p>
            <a:pPr>
              <a:spcBef>
                <a:spcPts val="800"/>
              </a:spcBef>
              <a:defRPr sz="1100">
                <a:solidFill>
                  <a:srgbClr val="78350F"/>
                </a:solidFill>
              </a:defRPr>
            </a:pPr>
            <a:r>
              <a:t>⚠ Static Preference Models: Stated choice surveys do not support interactive dynamic re-weighting.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092440" y="3474720"/>
            <a:ext cx="548640" cy="365760"/>
          </a:xfrm>
          <a:prstGeom prst="right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0" y="1371600"/>
            <a:ext cx="2926080" cy="4754880"/>
          </a:xfrm>
          <a:prstGeom prst="roundRect">
            <a:avLst/>
          </a:prstGeom>
          <a:solidFill>
            <a:srgbClr val="D1FAE5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HomeWise AI Integrated Framework</a:t>
            </a:r>
          </a:p>
          <a:p>
            <a:pPr>
              <a:spcBef>
                <a:spcPts val="800"/>
              </a:spcBef>
              <a:defRPr sz="1100">
                <a:solidFill>
                  <a:srgbClr val="065F46"/>
                </a:solidFill>
              </a:defRPr>
            </a:pPr>
            <a:r>
              <a:t>✓ Unified Decision Pipeline: Combines buyer preferences + budget constraints + 9 neighborhood factors.</a:t>
            </a:r>
          </a:p>
          <a:p>
            <a:pPr>
              <a:spcBef>
                <a:spcPts val="800"/>
              </a:spcBef>
              <a:defRPr sz="1100">
                <a:solidFill>
                  <a:srgbClr val="065F46"/>
                </a:solidFill>
              </a:defRPr>
            </a:pPr>
            <a:r>
              <a:t>✓ Interactive Web GIS Map: Leaflet spatial visual map with 40 locality markers.</a:t>
            </a:r>
          </a:p>
          <a:p>
            <a:pPr>
              <a:spcBef>
                <a:spcPts val="800"/>
              </a:spcBef>
              <a:defRPr sz="1100">
                <a:solidFill>
                  <a:srgbClr val="065F46"/>
                </a:solidFill>
              </a:defRPr>
            </a:pPr>
            <a:r>
              <a:t>✓ Transparent MCDM Ranking: Dynamic weighted scoring engine.</a:t>
            </a:r>
          </a:p>
          <a:p>
            <a:pPr>
              <a:spcBef>
                <a:spcPts val="800"/>
              </a:spcBef>
              <a:defRPr sz="1100">
                <a:solidFill>
                  <a:srgbClr val="065F46"/>
                </a:solidFill>
              </a:defRPr>
            </a:pPr>
            <a:r>
              <a:t>✓ Prototype AI Insight: Generates natural language explanation 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Literature Review – Summary (Papers 1–8)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59669"/>
                </a:solidFill>
              </a:defRPr>
            </a:pPr>
            <a:r>
              <a:t>HomeWise AI | Compact Overview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9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011680"/>
                <a:gridCol w="4114800"/>
                <a:gridCol w="4602175"/>
              </a:tblGrid>
              <a:tr h="57912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Author &amp; Year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 Title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Methodology / Main Contribution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57912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Schirmer et al. (2014)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The role of location in residential location choice models: a review of literature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Method: Statistical Analysis / Systematic Review. School proximity, transport accessibility, and neighborhood quality are primary determinants, varying significantly by household life-stage.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7912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Molin et al. (1996)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Predicting consumer response to new housing layouts: a stated choice experiment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Method: Survey / Consumer Analysis. Home buyers evaluate trade-offs hierarchically, prioritizing neighborhood safety and accessibility before micro-property attributes.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Walker &amp; Li (2007)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Latent lifestyle preferences and household location decisions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Method: Statistical Analysis. Segmenting buyers into latent lifestyle classes significantly improves predictive accuracy over standard demographic variables.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7912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Sirgy &amp; Cornwell (2002)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How neighborhood features affect quality of life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Method: Survey / Consumer Analysis. Physical safety, school accessibility, commercial market access, and environmental quality account for 65%+ of neighborhood satisfaction.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Malczewski (2006)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GIS‐based multicriteria decision analysis: a survey of the literature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Method: GIS / Multi-Criteria Evaluation. Combining GIS spatial aggregation with Multi-Criteria Evaluation (MCE) provides the optimal paradigm for spatial decision support.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7912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Chandio et al. (2014)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GIS-based multicriteria decision analysis of land suitability for housing development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Method: GIS / Multi-Criteria Evaluation. Spatial GIS overlay combined with weighted factor criteria successfully identifies optimal residential zones with high precision.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Zolfani et al. (2013)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Decision making on business site selection utilizing hybrid MCDM model under fuzzy environment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Method: Multi-Criteria Decision Making (MCDM). Hybrid MCDM models effectively resolve conflicting criteria (e.g. price vs accessibility) and produce robust location rankings.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7912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Pamučar et al. (2018)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 New Model for Determining Weight Coefficients of Criteria in MCDM Models: Full Consistency Method (FUCOM)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Method: Optimization / MCDM. FUCOM requires fewer pairwise comparisons than traditional AHP while achieving complete consistency in criteria weight assignment.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Literature Review – Summary (Papers 9–15)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59669"/>
                </a:solidFill>
              </a:defRPr>
            </a:pPr>
            <a:r>
              <a:t>HomeWise AI | Compact Overview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011680"/>
                <a:gridCol w="4114800"/>
                <a:gridCol w="4602175"/>
              </a:tblGrid>
              <a:tr h="62865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Author &amp; Year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 Title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Methodology / Main Contribution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Yuan et al. (2020)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 personalized real estate recommendation algorithm based on user preference and geographic location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Method: Recommendation System. Integrating spatial distance decay with user-preference weighting yields significantly higher user recommendation satisfaction.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2865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Wu et al. (2021)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Location-aware housing recommendation system based on multi-attribute preference modeling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Method: Recommendation System. Multi-attribute preference modeling significantly outperforms traditional collaborative filtering for high-involvement real estate choices.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Zhang &amp; Dong (2018)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Impacts of Street-Visible Greenery on Housing Prices: Evidence from a Hedonic Price Model and a Massive Street View Image Dataset in Beijing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Method: Statistical Analysis / Hedonic Pricing. Neighborhood attributes (school access, green cover, hospital proximity) account for up to 40% of residential property price variation.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2865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Foth et al. (2013)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Towards equitable transit: examining transit accessibility and social need in Toronto, Canada, 1996–2006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Method: GIS / Accessibility Analysis. Public transit connectivity and short travel times to urban centers significantly enhance neighborhood residential attractiveness.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Badland et al. (2014)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Urban liveability: Emerging lessons from Australia for exploring the potential for indicators to measure the social determinants of health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Method: Environmental / Indicator Framework. Air quality, public open space, and walkability are critical determinants of long-term residential health and satisfaction.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2865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Baldominos et al. (2018)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Identifying real estate opportunities using machine learning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Method: Machine Learning. Machine learning algorithms effectively capture complex, non-linear spatial interactions between location features and property values.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73152" rIns="73152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Dwivedi et al. (2021)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Artificial Intelligence (AI): Multidisciplinary perspectives on emerging challenges, opportunities, and agenda for research, practice and policy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Method: AI / Qualitative Survey. AI decision support systems require human-in-the-loop transparency, explainability, and natural language synthesis to gain user trust.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